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Good morning/afternoon. Today I present my internship project: SIMD-Accelerated Post-Quantum Cryptography Framework. This project implements a C11 quantum-resistant network communication stack tailored for heterogeneous server-to-ARM node environments.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 provides the introduction and background. My internship focused on post-quantum network security, combining low-level C systems programming, hardware SIMD vectorization, and formal security verification.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3 outlines the motivation. Shor's algorithm threatens classical cryptography. While NIST has standardized ML-KEM and ML-DSA, their large key sizes and heavy lattice polynomial math severely impact embedded ARM devices.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4 summarizes my four primary engineering contributions: C11 network engine, SIMD acceleration, io_uring server core, and formal verification.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5 details the five methodology phases from primitive selection to formal modeling, protocol coding, SIMD vectorization, and benchmarking.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6 shows the 4-way UDP PQC handshake flow and decoupled UNIX socket IPC server architecture.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7 details our cryptographic cipher suite: ML-KEM-768, ML-DSA-65, ChaCha20-Poly1305, and SHAKE256.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8 shows ProVerif formal verification results proving secrecy, mutual authentication, and Perfect Forward Secrecy.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9 details SIMD vector acceleration (AVX2/NEON) and the arm64_ref cross-compilation toolchain.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10 presents empirical performance results: 0.85 ms LAN handshake, 850 HS/sec server throughput, and 1.8 mJ energy usage per handshake on Pi 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11 summarizes key takeaways across protocol development, SIMD hardware acceleration, and formal verification.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Thank you for your time and attention! I am now open for any questions and discussion.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1371600"/>
            <a:ext cx="10362895" cy="219456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1645920"/>
            <a:ext cx="9784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Liberation Sans"/>
              </a:defRPr>
            </a:pPr>
            <a:r>
              <a:t>SIMD-Accelerated Post-Quantum Cryptography Framework</a:t>
            </a:r>
          </a:p>
          <a:p>
            <a:pPr>
              <a:spcBef>
                <a:spcPts val="1000"/>
              </a:spcBef>
              <a:defRPr sz="1400">
                <a:solidFill>
                  <a:srgbClr val="BAE6FD"/>
                </a:solidFill>
                <a:latin typeface="Liberation Sans"/>
              </a:defRPr>
            </a:pPr>
            <a:r>
              <a:t>Heterogeneous x86_64 Server ↔ ARM Client Networking with Formal Verification &amp; Vector Acceleration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3931920"/>
            <a:ext cx="10362895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4114800"/>
            <a:ext cx="99056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E3A8A"/>
                </a:solidFill>
                <a:latin typeface="Liberation Sans"/>
              </a:defRPr>
            </a:pPr>
            <a:r>
              <a:t>PRESENTER &amp; PROJECT METADATA</a:t>
            </a:r>
          </a:p>
          <a:p>
            <a:pPr>
              <a:spcAft>
                <a:spcPts val="500"/>
              </a:spcAft>
              <a:defRPr sz="1100">
                <a:solidFill>
                  <a:srgbClr val="1E293B"/>
                </a:solidFill>
                <a:latin typeface="Liberation Sans"/>
              </a:defRPr>
            </a:pPr>
            <a:r>
              <a:t>• Presenter: Cybersecurity &amp; Systems Engineering Intern</a:t>
            </a:r>
          </a:p>
          <a:p>
            <a:pPr>
              <a:spcAft>
                <a:spcPts val="500"/>
              </a:spcAft>
              <a:defRPr sz="1100">
                <a:solidFill>
                  <a:srgbClr val="1E293B"/>
                </a:solidFill>
                <a:latin typeface="Liberation Sans"/>
              </a:defRPr>
            </a:pPr>
            <a:r>
              <a:t>• Organization: Systems &amp; Post-Quantum Cryptography Research Lab</a:t>
            </a:r>
          </a:p>
          <a:p>
            <a:pPr>
              <a:spcAft>
                <a:spcPts val="500"/>
              </a:spcAft>
              <a:defRPr sz="1100">
                <a:solidFill>
                  <a:srgbClr val="1E293B"/>
                </a:solidFill>
                <a:latin typeface="Liberation Sans"/>
              </a:defRPr>
            </a:pPr>
            <a:r>
              <a:t>• Key Technologies: C11, Linux io_uring, OpenSSL 3.0, liboqs, ProVerif, AVX2, ARM NEON</a:t>
            </a:r>
          </a:p>
          <a:p>
            <a:pPr>
              <a:spcAft>
                <a:spcPts val="500"/>
              </a:spcAft>
              <a:defRPr sz="1100">
                <a:solidFill>
                  <a:srgbClr val="1E293B"/>
                </a:solidFill>
                <a:latin typeface="Liberation Sans"/>
              </a:defRPr>
            </a:pPr>
            <a:r>
              <a:t>• Primary Achievement: Sub-millisecond 4-way PQC Handshake (0.85 ms) &amp; 20 Formally Verified Security Proofs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0284C7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Liberation Sans"/>
              </a:defRPr>
            </a:pPr>
            <a:r>
              <a:t>Introduction &amp; Project Context</a:t>
            </a:r>
          </a:p>
          <a:p>
            <a:pPr>
              <a:spcBef>
                <a:spcPts val="400"/>
              </a:spcBef>
              <a:defRPr sz="1200">
                <a:solidFill>
                  <a:srgbClr val="64748B"/>
                </a:solidFill>
                <a:latin typeface="Liberation Sans"/>
              </a:defRPr>
            </a:pPr>
            <a:r>
              <a:t>Overview of internship domain, research objectives, and core technological scope.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Liberation Sans"/>
              </a:defRPr>
            </a:pPr>
            <a:r>
              <a:t>SIMD-Accelerated Post-Quantum Cryptography Framework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45775" y="640080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1E3A8A"/>
                </a:solidFill>
                <a:latin typeface="Liberation Sans"/>
              </a:defRPr>
            </a:pPr>
            <a: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2120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64592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E3A8A"/>
                </a:solidFill>
                <a:latin typeface="Liberation Sans"/>
              </a:defRPr>
            </a:pPr>
            <a:r>
              <a:t>👋 About the Project &amp; Domain</a:t>
            </a:r>
          </a:p>
          <a:p>
            <a:pPr>
              <a:spcAft>
                <a:spcPts val="500"/>
              </a:spcAft>
              <a:defRPr sz="1100">
                <a:solidFill>
                  <a:srgbClr val="1E293B"/>
                </a:solidFill>
                <a:latin typeface="Liberation Sans"/>
              </a:defRPr>
            </a:pPr>
            <a:r>
              <a:t>• Internship Focus:</a:t>
            </a:r>
          </a:p>
          <a:p>
            <a:pPr>
              <a:spcAft>
                <a:spcPts val="500"/>
              </a:spcAft>
              <a:defRPr sz="1100">
                <a:solidFill>
                  <a:srgbClr val="1E293B"/>
                </a:solidFill>
                <a:latin typeface="Liberation Sans"/>
              </a:defRPr>
            </a:pPr>
            <a:r>
              <a:t>   Design, optimization, and formal analysis of post-quantum network protocols.</a:t>
            </a:r>
          </a:p>
          <a:p>
            <a:pPr>
              <a:spcAft>
                <a:spcPts val="500"/>
              </a:spcAft>
              <a:defRPr sz="1100">
                <a:solidFill>
                  <a:srgbClr val="1E293B"/>
                </a:solidFill>
                <a:latin typeface="Liberation Sans"/>
              </a:defRPr>
            </a:pPr>
          </a:p>
          <a:p>
            <a:pPr>
              <a:spcAft>
                <a:spcPts val="500"/>
              </a:spcAft>
              <a:defRPr sz="1100">
                <a:solidFill>
                  <a:srgbClr val="1E293B"/>
                </a:solidFill>
                <a:latin typeface="Liberation Sans"/>
              </a:defRPr>
            </a:pPr>
            <a:r>
              <a:t>• Core Research Domain:</a:t>
            </a:r>
          </a:p>
          <a:p>
            <a:pPr>
              <a:spcAft>
                <a:spcPts val="500"/>
              </a:spcAft>
              <a:defRPr sz="1100">
                <a:solidFill>
                  <a:srgbClr val="1E293B"/>
                </a:solidFill>
                <a:latin typeface="Liberation Sans"/>
              </a:defRPr>
            </a:pPr>
            <a:r>
              <a:t>   Post-Quantum Cryptography (PQC), Microarchitectural Acceleration (SIMD), and Formal Verification (ProVerif).</a:t>
            </a:r>
          </a:p>
          <a:p>
            <a:pPr>
              <a:spcAft>
                <a:spcPts val="500"/>
              </a:spcAft>
              <a:defRPr sz="1100">
                <a:solidFill>
                  <a:srgbClr val="1E293B"/>
                </a:solidFill>
                <a:latin typeface="Liberation Sans"/>
              </a:defRPr>
            </a:pPr>
          </a:p>
          <a:p>
            <a:pPr>
              <a:spcAft>
                <a:spcPts val="500"/>
              </a:spcAft>
              <a:defRPr sz="1100">
                <a:solidFill>
                  <a:srgbClr val="1E293B"/>
                </a:solidFill>
                <a:latin typeface="Liberation Sans"/>
              </a:defRPr>
            </a:pPr>
            <a:r>
              <a:t>• Deployment Targets:</a:t>
            </a:r>
          </a:p>
          <a:p>
            <a:pPr>
              <a:spcAft>
                <a:spcPts val="500"/>
              </a:spcAft>
              <a:defRPr sz="1100">
                <a:solidFill>
                  <a:srgbClr val="1E293B"/>
                </a:solidFill>
                <a:latin typeface="Liberation Sans"/>
              </a:defRPr>
            </a:pPr>
            <a:r>
              <a:t>   High-performance x86_64 servers communicating with resource-constrained ARM edge nodes (Raspberry Pi 3B / 4B / 5).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2120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64592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0284C7"/>
                </a:solidFill>
                <a:latin typeface="Liberation Sans"/>
              </a:defRPr>
            </a:pPr>
            <a:r>
              <a:t>🎯 Primary Internship Scope</a:t>
            </a:r>
          </a:p>
          <a:p>
            <a:pPr>
              <a:spcAft>
                <a:spcPts val="500"/>
              </a:spcAft>
              <a:defRPr sz="1100">
                <a:solidFill>
                  <a:srgbClr val="1E293B"/>
                </a:solidFill>
                <a:latin typeface="Liberation Sans"/>
              </a:defRPr>
            </a:pPr>
            <a:r>
              <a:t>• 1. Protocol Engineering:</a:t>
            </a:r>
          </a:p>
          <a:p>
            <a:pPr>
              <a:spcAft>
                <a:spcPts val="500"/>
              </a:spcAft>
              <a:defRPr sz="1100">
                <a:solidFill>
                  <a:srgbClr val="1E293B"/>
                </a:solidFill>
                <a:latin typeface="Liberation Sans"/>
              </a:defRPr>
            </a:pPr>
            <a:r>
              <a:t>   Build a lightweight C11 UDP 4-way handshake using NIST standardized algorithms.</a:t>
            </a:r>
          </a:p>
          <a:p>
            <a:pPr>
              <a:spcAft>
                <a:spcPts val="500"/>
              </a:spcAft>
              <a:defRPr sz="1100">
                <a:solidFill>
                  <a:srgbClr val="1E293B"/>
                </a:solidFill>
                <a:latin typeface="Liberation Sans"/>
              </a:defRPr>
            </a:pPr>
          </a:p>
          <a:p>
            <a:pPr>
              <a:spcAft>
                <a:spcPts val="500"/>
              </a:spcAft>
              <a:defRPr sz="1100">
                <a:solidFill>
                  <a:srgbClr val="1E293B"/>
                </a:solidFill>
                <a:latin typeface="Liberation Sans"/>
              </a:defRPr>
            </a:pPr>
            <a:r>
              <a:t>• 2. Hardware Acceleration:</a:t>
            </a:r>
          </a:p>
          <a:p>
            <a:pPr>
              <a:spcAft>
                <a:spcPts val="500"/>
              </a:spcAft>
              <a:defRPr sz="1100">
                <a:solidFill>
                  <a:srgbClr val="1E293B"/>
                </a:solidFill>
                <a:latin typeface="Liberation Sans"/>
              </a:defRPr>
            </a:pPr>
            <a:r>
              <a:t>   Implement AVX2/BMI2 vectorization for x86 and NEON 128-bit SIMD for ARM.</a:t>
            </a:r>
          </a:p>
          <a:p>
            <a:pPr>
              <a:spcAft>
                <a:spcPts val="500"/>
              </a:spcAft>
              <a:defRPr sz="1100">
                <a:solidFill>
                  <a:srgbClr val="1E293B"/>
                </a:solidFill>
                <a:latin typeface="Liberation Sans"/>
              </a:defRPr>
            </a:pPr>
          </a:p>
          <a:p>
            <a:pPr>
              <a:spcAft>
                <a:spcPts val="500"/>
              </a:spcAft>
              <a:defRPr sz="1100">
                <a:solidFill>
                  <a:srgbClr val="1E293B"/>
                </a:solidFill>
                <a:latin typeface="Liberation Sans"/>
              </a:defRPr>
            </a:pPr>
            <a:r>
              <a:t>• 3. Formal Cybersecurity:</a:t>
            </a:r>
          </a:p>
          <a:p>
            <a:pPr>
              <a:spcAft>
                <a:spcPts val="500"/>
              </a:spcAft>
              <a:defRPr sz="1100">
                <a:solidFill>
                  <a:srgbClr val="1E293B"/>
                </a:solidFill>
                <a:latin typeface="Liberation Sans"/>
              </a:defRPr>
            </a:pPr>
            <a:r>
              <a:t>   Prove secrecy, mutual authentication, and Perfect Forward Secrecy in ProVerif.</a:t>
            </a:r>
          </a:p>
          <a:p>
            <a:pPr>
              <a:spcAft>
                <a:spcPts val="500"/>
              </a:spcAft>
              <a:defRPr sz="1100">
                <a:solidFill>
                  <a:srgbClr val="1E293B"/>
                </a:solidFill>
                <a:latin typeface="Liberation Sans"/>
              </a:defRPr>
            </a:pPr>
          </a:p>
          <a:p>
            <a:pPr>
              <a:spcAft>
                <a:spcPts val="500"/>
              </a:spcAft>
              <a:defRPr sz="1100">
                <a:solidFill>
                  <a:srgbClr val="1E293B"/>
                </a:solidFill>
                <a:latin typeface="Liberation Sans"/>
              </a:defRPr>
            </a:pPr>
            <a:r>
              <a:t>• 4. Empirical Benchmarking:</a:t>
            </a:r>
          </a:p>
          <a:p>
            <a:pPr>
              <a:spcAft>
                <a:spcPts val="500"/>
              </a:spcAft>
              <a:defRPr sz="1100">
                <a:solidFill>
                  <a:srgbClr val="1E293B"/>
                </a:solidFill>
                <a:latin typeface="Liberation Sans"/>
              </a:defRPr>
            </a:pPr>
            <a:r>
              <a:t>   Profile latency, throughput, energy, and memory consumption.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0284C7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Liberation Sans"/>
              </a:defRPr>
            </a:pPr>
            <a:r>
              <a:t>Problem Statement &amp; Motivation</a:t>
            </a:r>
          </a:p>
          <a:p>
            <a:pPr>
              <a:spcBef>
                <a:spcPts val="400"/>
              </a:spcBef>
              <a:defRPr sz="1200">
                <a:solidFill>
                  <a:srgbClr val="64748B"/>
                </a:solidFill>
                <a:latin typeface="Liberation Sans"/>
              </a:defRPr>
            </a:pPr>
            <a:r>
              <a:t>Addressing the impending quantum threat and resource constraints on embedded nodes.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Liberation Sans"/>
              </a:defRPr>
            </a:pPr>
            <a:r>
              <a:t>SIMD-Accelerated Post-Quantum Cryptography Framework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45775" y="640080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1E3A8A"/>
                </a:solidFill>
                <a:latin typeface="Liberation Sans"/>
              </a:defRPr>
            </a:pPr>
            <a: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2120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64592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E3A8A"/>
                </a:solidFill>
                <a:latin typeface="Liberation Sans"/>
              </a:defRPr>
            </a:pPr>
            <a:r>
              <a:t>⚠️ The Quantum Threat</a:t>
            </a:r>
          </a:p>
          <a:p>
            <a:pPr>
              <a:spcAft>
                <a:spcPts val="500"/>
              </a:spcAft>
              <a:defRPr sz="1100">
                <a:solidFill>
                  <a:srgbClr val="1E293B"/>
                </a:solidFill>
                <a:latin typeface="Liberation Sans"/>
              </a:defRPr>
            </a:pPr>
            <a:r>
              <a:t>• Vulnerability of Classical Crypto:</a:t>
            </a:r>
          </a:p>
          <a:p>
            <a:pPr>
              <a:spcAft>
                <a:spcPts val="500"/>
              </a:spcAft>
              <a:defRPr sz="1100">
                <a:solidFill>
                  <a:srgbClr val="1E293B"/>
                </a:solidFill>
                <a:latin typeface="Liberation Sans"/>
              </a:defRPr>
            </a:pPr>
            <a:r>
              <a:t>   Shor's algorithm efficiently breaks RSA and ECC public-key schemes.</a:t>
            </a:r>
          </a:p>
          <a:p>
            <a:pPr>
              <a:spcAft>
                <a:spcPts val="500"/>
              </a:spcAft>
              <a:defRPr sz="1100">
                <a:solidFill>
                  <a:srgbClr val="1E293B"/>
                </a:solidFill>
                <a:latin typeface="Liberation Sans"/>
              </a:defRPr>
            </a:pPr>
          </a:p>
          <a:p>
            <a:pPr>
              <a:spcAft>
                <a:spcPts val="500"/>
              </a:spcAft>
              <a:defRPr sz="1100">
                <a:solidFill>
                  <a:srgbClr val="1E293B"/>
                </a:solidFill>
                <a:latin typeface="Liberation Sans"/>
              </a:defRPr>
            </a:pPr>
            <a:r>
              <a:t>• 'Harvest Now, Decrypt Later':</a:t>
            </a:r>
          </a:p>
          <a:p>
            <a:pPr>
              <a:spcAft>
                <a:spcPts val="500"/>
              </a:spcAft>
              <a:defRPr sz="1100">
                <a:solidFill>
                  <a:srgbClr val="1E293B"/>
                </a:solidFill>
                <a:latin typeface="Liberation Sans"/>
              </a:defRPr>
            </a:pPr>
            <a:r>
              <a:t>   Adversaries intercept and store today's encrypted network traffic to decrypt once quantum hardware matures.</a:t>
            </a:r>
          </a:p>
          <a:p>
            <a:pPr>
              <a:spcAft>
                <a:spcPts val="500"/>
              </a:spcAft>
              <a:defRPr sz="1100">
                <a:solidFill>
                  <a:srgbClr val="1E293B"/>
                </a:solidFill>
                <a:latin typeface="Liberation Sans"/>
              </a:defRPr>
            </a:pPr>
          </a:p>
          <a:p>
            <a:pPr>
              <a:spcAft>
                <a:spcPts val="500"/>
              </a:spcAft>
              <a:defRPr sz="1100">
                <a:solidFill>
                  <a:srgbClr val="1E293B"/>
                </a:solidFill>
                <a:latin typeface="Liberation Sans"/>
              </a:defRPr>
            </a:pPr>
            <a:r>
              <a:t>• NIST Standardization Mandate:</a:t>
            </a:r>
          </a:p>
          <a:p>
            <a:pPr>
              <a:spcAft>
                <a:spcPts val="500"/>
              </a:spcAft>
              <a:defRPr sz="1100">
                <a:solidFill>
                  <a:srgbClr val="1E293B"/>
                </a:solidFill>
                <a:latin typeface="Liberation Sans"/>
              </a:defRPr>
            </a:pPr>
            <a:r>
              <a:t>   Requires migration to ML-KEM (FIPS 203) for key exchange and ML-DSA (FIPS 204) for signatures.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2120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64592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0284C7"/>
                </a:solidFill>
                <a:latin typeface="Liberation Sans"/>
              </a:defRPr>
            </a:pPr>
            <a:r>
              <a:t>🧩 Embedded Performance Bottlenecks</a:t>
            </a:r>
          </a:p>
          <a:p>
            <a:pPr>
              <a:spcAft>
                <a:spcPts val="500"/>
              </a:spcAft>
              <a:defRPr sz="1100">
                <a:solidFill>
                  <a:srgbClr val="1E293B"/>
                </a:solidFill>
                <a:latin typeface="Liberation Sans"/>
              </a:defRPr>
            </a:pPr>
            <a:r>
              <a:t>• Large Key &amp; Ciphertext Overhead:</a:t>
            </a:r>
          </a:p>
          <a:p>
            <a:pPr>
              <a:spcAft>
                <a:spcPts val="500"/>
              </a:spcAft>
              <a:defRPr sz="1100">
                <a:solidFill>
                  <a:srgbClr val="1E293B"/>
                </a:solidFill>
                <a:latin typeface="Liberation Sans"/>
              </a:defRPr>
            </a:pPr>
            <a:r>
              <a:t>   ML-KEM-768 PK = 1,184 B; ML-DSA-65 signature = 3,293 B (vs classical ECC 64 B).</a:t>
            </a:r>
          </a:p>
          <a:p>
            <a:pPr>
              <a:spcAft>
                <a:spcPts val="500"/>
              </a:spcAft>
              <a:defRPr sz="1100">
                <a:solidFill>
                  <a:srgbClr val="1E293B"/>
                </a:solidFill>
                <a:latin typeface="Liberation Sans"/>
              </a:defRPr>
            </a:pPr>
          </a:p>
          <a:p>
            <a:pPr>
              <a:spcAft>
                <a:spcPts val="500"/>
              </a:spcAft>
              <a:defRPr sz="1100">
                <a:solidFill>
                  <a:srgbClr val="1E293B"/>
                </a:solidFill>
                <a:latin typeface="Liberation Sans"/>
              </a:defRPr>
            </a:pPr>
            <a:r>
              <a:t>• Heavy Lattice Mathematics:</a:t>
            </a:r>
          </a:p>
          <a:p>
            <a:pPr>
              <a:spcAft>
                <a:spcPts val="500"/>
              </a:spcAft>
              <a:defRPr sz="1100">
                <a:solidFill>
                  <a:srgbClr val="1E293B"/>
                </a:solidFill>
                <a:latin typeface="Liberation Sans"/>
              </a:defRPr>
            </a:pPr>
            <a:r>
              <a:t>   Polynomial vector multiplication and Number Theoretic Transforms (NTT) strain low-power CPUs.</a:t>
            </a:r>
          </a:p>
          <a:p>
            <a:pPr>
              <a:spcAft>
                <a:spcPts val="500"/>
              </a:spcAft>
              <a:defRPr sz="1100">
                <a:solidFill>
                  <a:srgbClr val="1E293B"/>
                </a:solidFill>
                <a:latin typeface="Liberation Sans"/>
              </a:defRPr>
            </a:pPr>
          </a:p>
          <a:p>
            <a:pPr>
              <a:spcAft>
                <a:spcPts val="500"/>
              </a:spcAft>
              <a:defRPr sz="1100">
                <a:solidFill>
                  <a:srgbClr val="1E293B"/>
                </a:solidFill>
                <a:latin typeface="Liberation Sans"/>
              </a:defRPr>
            </a:pPr>
            <a:r>
              <a:t>• RAM &amp; Latency Limits:</a:t>
            </a:r>
          </a:p>
          <a:p>
            <a:pPr>
              <a:spcAft>
                <a:spcPts val="500"/>
              </a:spcAft>
              <a:defRPr sz="1100">
                <a:solidFill>
                  <a:srgbClr val="1E293B"/>
                </a:solidFill>
                <a:latin typeface="Liberation Sans"/>
              </a:defRPr>
            </a:pPr>
            <a:r>
              <a:t>   Unoptimized PQC algorithms degrade network connection times on ARM edge hardware.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0284C7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Liberation Sans"/>
              </a:defRPr>
            </a:pPr>
            <a:r>
              <a:t>Project Scope &amp; Core Engineering Contributions</a:t>
            </a:r>
          </a:p>
          <a:p>
            <a:pPr>
              <a:spcBef>
                <a:spcPts val="400"/>
              </a:spcBef>
              <a:defRPr sz="1200">
                <a:solidFill>
                  <a:srgbClr val="64748B"/>
                </a:solidFill>
                <a:latin typeface="Liberation Sans"/>
              </a:defRPr>
            </a:pPr>
            <a:r>
              <a:t>Four core pillars implemented during the internship.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Liberation Sans"/>
              </a:defRPr>
            </a:pPr>
            <a:r>
              <a:t>SIMD-Accelerated Post-Quantum Cryptography Framework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45775" y="640080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1E3A8A"/>
                </a:solidFill>
                <a:latin typeface="Liberation Sans"/>
              </a:defRPr>
            </a:pPr>
            <a: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21208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64592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E3A8A"/>
                </a:solidFill>
                <a:latin typeface="Liberation Sans"/>
              </a:defRPr>
            </a:pPr>
            <a:r>
              <a:t>1. High-Performance C11 Protocol Engine</a:t>
            </a:r>
          </a:p>
          <a:p>
            <a:pPr>
              <a:spcAft>
                <a:spcPts val="500"/>
              </a:spcAft>
              <a:defRPr sz="1100">
                <a:solidFill>
                  <a:srgbClr val="1E293B"/>
                </a:solidFill>
                <a:latin typeface="Liberation Sans"/>
              </a:defRPr>
            </a:pPr>
            <a:r>
              <a:t>• Engineered a lightweight 4-way UDP PQC handshake protocol in C11.</a:t>
            </a:r>
          </a:p>
          <a:p>
            <a:pPr>
              <a:spcAft>
                <a:spcPts val="500"/>
              </a:spcAft>
              <a:defRPr sz="1100">
                <a:solidFill>
                  <a:srgbClr val="1E293B"/>
                </a:solidFill>
                <a:latin typeface="Liberation Sans"/>
              </a:defRPr>
            </a:pPr>
            <a:r>
              <a:t>• Achieved sub-millisecond connection establishment (0.85 ms) over LAN.</a:t>
            </a:r>
          </a:p>
          <a:p>
            <a:pPr>
              <a:spcAft>
                <a:spcPts val="500"/>
              </a:spcAft>
              <a:defRPr sz="1100">
                <a:solidFill>
                  <a:srgbClr val="1E293B"/>
                </a:solidFill>
                <a:latin typeface="Liberation Sans"/>
              </a:defRPr>
            </a:pPr>
            <a:r>
              <a:t>• Decoupled packet headers, nonces, and session key state management.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21208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64592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0284C7"/>
                </a:solidFill>
                <a:latin typeface="Liberation Sans"/>
              </a:defRPr>
            </a:pPr>
            <a:r>
              <a:t>2. Dual SIMD Acceleration Pipeline</a:t>
            </a:r>
          </a:p>
          <a:p>
            <a:pPr>
              <a:spcAft>
                <a:spcPts val="500"/>
              </a:spcAft>
              <a:defRPr sz="1100">
                <a:solidFill>
                  <a:srgbClr val="1E293B"/>
                </a:solidFill>
                <a:latin typeface="Liberation Sans"/>
              </a:defRPr>
            </a:pPr>
            <a:r>
              <a:t>• Integrated 256-bit AVX2 &amp; BMI2 instructions for x86_64 server hosts.</a:t>
            </a:r>
          </a:p>
          <a:p>
            <a:pPr>
              <a:spcAft>
                <a:spcPts val="500"/>
              </a:spcAft>
              <a:defRPr sz="1100">
                <a:solidFill>
                  <a:srgbClr val="1E293B"/>
                </a:solidFill>
                <a:latin typeface="Liberation Sans"/>
              </a:defRPr>
            </a:pPr>
            <a:r>
              <a:t>• Harnesses 128-bit NEON vectorization and VFPv4 for ARM Cortex nodes.</a:t>
            </a:r>
          </a:p>
          <a:p>
            <a:pPr>
              <a:spcAft>
                <a:spcPts val="500"/>
              </a:spcAft>
              <a:defRPr sz="1100">
                <a:solidFill>
                  <a:srgbClr val="1E293B"/>
                </a:solidFill>
                <a:latin typeface="Liberation Sans"/>
              </a:defRPr>
            </a:pPr>
            <a:r>
              <a:t>• Reduced lattice polynomial multiplication latency by up to 3.2x.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931920"/>
            <a:ext cx="521208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411480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0F172A"/>
                </a:solidFill>
                <a:latin typeface="Liberation Sans"/>
              </a:defRPr>
            </a:pPr>
            <a:r>
              <a:t>3. Decoupled POSIX IPC Server Engine</a:t>
            </a:r>
          </a:p>
          <a:p>
            <a:pPr>
              <a:spcAft>
                <a:spcPts val="500"/>
              </a:spcAft>
              <a:defRPr sz="1100">
                <a:solidFill>
                  <a:srgbClr val="1E293B"/>
                </a:solidFill>
                <a:latin typeface="Liberation Sans"/>
              </a:defRPr>
            </a:pPr>
            <a:r>
              <a:t>• Utilized Linux io_uring asynchronous I/O engine for high socket concurrency.</a:t>
            </a:r>
          </a:p>
          <a:p>
            <a:pPr>
              <a:spcAft>
                <a:spcPts val="500"/>
              </a:spcAft>
              <a:defRPr sz="1100">
                <a:solidFill>
                  <a:srgbClr val="1E293B"/>
                </a:solidFill>
                <a:latin typeface="Liberation Sans"/>
              </a:defRPr>
            </a:pPr>
            <a:r>
              <a:t>• Decoupled UDP core daemon from UI logging via UNIX domain sockets.</a:t>
            </a:r>
          </a:p>
          <a:p>
            <a:pPr>
              <a:spcAft>
                <a:spcPts val="500"/>
              </a:spcAft>
              <a:defRPr sz="1100">
                <a:solidFill>
                  <a:srgbClr val="1E293B"/>
                </a:solidFill>
                <a:latin typeface="Liberation Sans"/>
              </a:defRPr>
            </a:pPr>
            <a:r>
              <a:t>• Integrated server_rx display and server_tx command consoles.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3931920"/>
            <a:ext cx="521208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411480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0B981"/>
                </a:solidFill>
                <a:latin typeface="Liberation Sans"/>
              </a:defRPr>
            </a:pPr>
            <a:r>
              <a:t>4. Formally Verified Security Model</a:t>
            </a:r>
          </a:p>
          <a:p>
            <a:pPr>
              <a:spcAft>
                <a:spcPts val="500"/>
              </a:spcAft>
              <a:defRPr sz="1100">
                <a:solidFill>
                  <a:srgbClr val="1E293B"/>
                </a:solidFill>
                <a:latin typeface="Liberation Sans"/>
              </a:defRPr>
            </a:pPr>
            <a:r>
              <a:t>• Modeled 4-way handshake in Applied Pi-Calculus using ProVerif.</a:t>
            </a:r>
          </a:p>
          <a:p>
            <a:pPr>
              <a:spcAft>
                <a:spcPts val="500"/>
              </a:spcAft>
              <a:defRPr sz="1100">
                <a:solidFill>
                  <a:srgbClr val="1E293B"/>
                </a:solidFill>
                <a:latin typeface="Liberation Sans"/>
              </a:defRPr>
            </a:pPr>
            <a:r>
              <a:t>• Mathematically verified 20 security properties under Dolev-Yao model.</a:t>
            </a:r>
          </a:p>
          <a:p>
            <a:pPr>
              <a:spcAft>
                <a:spcPts val="500"/>
              </a:spcAft>
              <a:defRPr sz="1100">
                <a:solidFill>
                  <a:srgbClr val="1E293B"/>
                </a:solidFill>
                <a:latin typeface="Liberation Sans"/>
              </a:defRPr>
            </a:pPr>
            <a:r>
              <a:t>• Proven Perfect Forward Secrecy (PFS), Mutual Auth, and Replay Resistance.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0284C7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Liberation Sans"/>
              </a:defRPr>
            </a:pPr>
            <a:r>
              <a:t>Methodology &amp; Implementation Pipeline</a:t>
            </a:r>
          </a:p>
          <a:p>
            <a:pPr>
              <a:spcBef>
                <a:spcPts val="400"/>
              </a:spcBef>
              <a:defRPr sz="1200">
                <a:solidFill>
                  <a:srgbClr val="64748B"/>
                </a:solidFill>
                <a:latin typeface="Liberation Sans"/>
              </a:defRPr>
            </a:pPr>
            <a:r>
              <a:t>A structured five-phase pipeline from primitive selection to validated execution.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Liberation Sans"/>
              </a:defRPr>
            </a:pPr>
            <a:r>
              <a:t>SIMD-Accelerated Post-Quantum Cryptography Framework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45775" y="640080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1E3A8A"/>
                </a:solidFill>
                <a:latin typeface="Liberation Sans"/>
              </a:defRPr>
            </a:pPr>
            <a: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10728655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72768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E3A8A"/>
                </a:solidFill>
                <a:latin typeface="Liberation Sans"/>
              </a:defRPr>
            </a:pPr>
            <a:r>
              <a:t>Phase 1: Primitive Selection</a:t>
            </a:r>
          </a:p>
          <a:p>
            <a:pPr>
              <a:spcBef>
                <a:spcPts val="200"/>
              </a:spcBef>
              <a:defRPr sz="1100">
                <a:solidFill>
                  <a:srgbClr val="1E293B"/>
                </a:solidFill>
                <a:latin typeface="Liberation Sans"/>
              </a:defRPr>
            </a:pPr>
            <a:r>
              <a:t>NIST FIPS 203 ML-KEM-768 &amp; FIPS 204 ML-DSA-65 standardized parameters.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377440"/>
            <a:ext cx="10728655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487168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E3A8A"/>
                </a:solidFill>
                <a:latin typeface="Liberation Sans"/>
              </a:defRPr>
            </a:pPr>
            <a:r>
              <a:t>Phase 2: Formal Verification</a:t>
            </a:r>
          </a:p>
          <a:p>
            <a:pPr>
              <a:spcBef>
                <a:spcPts val="200"/>
              </a:spcBef>
              <a:defRPr sz="1100">
                <a:solidFill>
                  <a:srgbClr val="1E293B"/>
                </a:solidFill>
                <a:latin typeface="Liberation Sans"/>
              </a:defRPr>
            </a:pPr>
            <a:r>
              <a:t>ProVerif Applied Pi-Calculus protocol modeling for Secrecy &amp; Perfect Forward Secrecy.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91840"/>
            <a:ext cx="10728655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401568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E3A8A"/>
                </a:solidFill>
                <a:latin typeface="Liberation Sans"/>
              </a:defRPr>
            </a:pPr>
            <a:r>
              <a:t>Phase 3: C11 Protocol Engine</a:t>
            </a:r>
          </a:p>
          <a:p>
            <a:pPr>
              <a:spcBef>
                <a:spcPts val="200"/>
              </a:spcBef>
              <a:defRPr sz="1100">
                <a:solidFill>
                  <a:srgbClr val="1E293B"/>
                </a:solidFill>
                <a:latin typeface="Liberation Sans"/>
              </a:defRPr>
            </a:pPr>
            <a:r>
              <a:t>Custom 4-way UDP handshake state machine &amp; ChaCha20-Poly1305 AEAD streaming.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206240"/>
            <a:ext cx="10728655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315968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E3A8A"/>
                </a:solidFill>
                <a:latin typeface="Liberation Sans"/>
              </a:defRPr>
            </a:pPr>
            <a:r>
              <a:t>Phase 4: SIMD Optimization</a:t>
            </a:r>
          </a:p>
          <a:p>
            <a:pPr>
              <a:spcBef>
                <a:spcPts val="200"/>
              </a:spcBef>
              <a:defRPr sz="1100">
                <a:solidFill>
                  <a:srgbClr val="1E293B"/>
                </a:solidFill>
                <a:latin typeface="Liberation Sans"/>
              </a:defRPr>
            </a:pPr>
            <a:r>
              <a:t>AVX2 (x86) and NEON (ARM) vector acceleration for lattice polynomial math.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120640"/>
            <a:ext cx="10728655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5230368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E3A8A"/>
                </a:solidFill>
                <a:latin typeface="Liberation Sans"/>
              </a:defRPr>
            </a:pPr>
            <a:r>
              <a:t>Phase 5: Empirical Benchmarking</a:t>
            </a:r>
          </a:p>
          <a:p>
            <a:pPr>
              <a:spcBef>
                <a:spcPts val="200"/>
              </a:spcBef>
              <a:defRPr sz="1100">
                <a:solidFill>
                  <a:srgbClr val="1E293B"/>
                </a:solidFill>
                <a:latin typeface="Liberation Sans"/>
              </a:defRPr>
            </a:pPr>
            <a:r>
              <a:t>Profiling via bench_pqc (microbenchmarks), bench_nclient (scale), and bench_aead (AEAD).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0284C7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Liberation Sans"/>
              </a:defRPr>
            </a:pPr>
            <a:r>
              <a:t>System Architecture &amp; Handshake Flow</a:t>
            </a:r>
          </a:p>
          <a:p>
            <a:pPr>
              <a:spcBef>
                <a:spcPts val="400"/>
              </a:spcBef>
              <a:defRPr sz="1200">
                <a:solidFill>
                  <a:srgbClr val="64748B"/>
                </a:solidFill>
                <a:latin typeface="Liberation Sans"/>
              </a:defRPr>
            </a:pPr>
            <a:r>
              <a:t>4-Way PQC UDP protocol sequence and decoupled POSIX IPC server engine.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Liberation Sans"/>
              </a:defRPr>
            </a:pPr>
            <a:r>
              <a:t>SIMD-Accelerated Post-Quantum Cryptography Framework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45775" y="640080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1E3A8A"/>
                </a:solidFill>
                <a:latin typeface="Liberation Sans"/>
              </a:defRPr>
            </a:pPr>
            <a: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2120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64592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E3A8A"/>
                </a:solidFill>
                <a:latin typeface="Liberation Sans"/>
              </a:defRPr>
            </a:pPr>
            <a:r>
              <a:t>🔄 4-Way PQC Handshake Protocol</a:t>
            </a:r>
          </a:p>
          <a:p>
            <a:pPr>
              <a:spcAft>
                <a:spcPts val="500"/>
              </a:spcAft>
              <a:defRPr sz="1100">
                <a:solidFill>
                  <a:srgbClr val="1E293B"/>
                </a:solidFill>
                <a:latin typeface="Liberation Sans"/>
              </a:defRPr>
            </a:pPr>
            <a:r>
              <a:t>1. PKT_CLIENT_HELLO:</a:t>
            </a:r>
          </a:p>
          <a:p>
            <a:pPr>
              <a:spcAft>
                <a:spcPts val="500"/>
              </a:spcAft>
              <a:defRPr sz="1100">
                <a:solidFill>
                  <a:srgbClr val="1E293B"/>
                </a:solidFill>
                <a:latin typeface="Liberation Sans"/>
              </a:defRPr>
            </a:pPr>
            <a:r>
              <a:t>   Client ──► Server: (KEM_PK_c, DSA_PK_c, Nonce_c)</a:t>
            </a:r>
          </a:p>
          <a:p>
            <a:pPr>
              <a:spcAft>
                <a:spcPts val="500"/>
              </a:spcAft>
              <a:defRPr sz="1100">
                <a:solidFill>
                  <a:srgbClr val="1E293B"/>
                </a:solidFill>
                <a:latin typeface="Liberation Sans"/>
              </a:defRPr>
            </a:pPr>
          </a:p>
          <a:p>
            <a:pPr>
              <a:spcAft>
                <a:spcPts val="500"/>
              </a:spcAft>
              <a:defRPr sz="1100">
                <a:solidFill>
                  <a:srgbClr val="1E293B"/>
                </a:solidFill>
                <a:latin typeface="Liberation Sans"/>
              </a:defRPr>
            </a:pPr>
            <a:r>
              <a:t>2. PKT_SERVER_HELLO:</a:t>
            </a:r>
          </a:p>
          <a:p>
            <a:pPr>
              <a:spcAft>
                <a:spcPts val="500"/>
              </a:spcAft>
              <a:defRPr sz="1100">
                <a:solidFill>
                  <a:srgbClr val="1E293B"/>
                </a:solidFill>
                <a:latin typeface="Liberation Sans"/>
              </a:defRPr>
            </a:pPr>
            <a:r>
              <a:t>   Server ──► Client: (DSA_PK_s, KEM_CT, SessionID, Nonce_s, Sig_s)</a:t>
            </a:r>
          </a:p>
          <a:p>
            <a:pPr>
              <a:spcAft>
                <a:spcPts val="500"/>
              </a:spcAft>
              <a:defRPr sz="1100">
                <a:solidFill>
                  <a:srgbClr val="1E293B"/>
                </a:solidFill>
                <a:latin typeface="Liberation Sans"/>
              </a:defRPr>
            </a:pPr>
          </a:p>
          <a:p>
            <a:pPr>
              <a:spcAft>
                <a:spcPts val="500"/>
              </a:spcAft>
              <a:defRPr sz="1100">
                <a:solidFill>
                  <a:srgbClr val="1E293B"/>
                </a:solidFill>
                <a:latin typeface="Liberation Sans"/>
              </a:defRPr>
            </a:pPr>
            <a:r>
              <a:t>3. PKT_CLIENT_AUTH:</a:t>
            </a:r>
          </a:p>
          <a:p>
            <a:pPr>
              <a:spcAft>
                <a:spcPts val="500"/>
              </a:spcAft>
              <a:defRPr sz="1100">
                <a:solidFill>
                  <a:srgbClr val="1E293B"/>
                </a:solidFill>
                <a:latin typeface="Liberation Sans"/>
              </a:defRPr>
            </a:pPr>
            <a:r>
              <a:t>   Client ──► Server: (Sig_c over full transcript)</a:t>
            </a:r>
          </a:p>
          <a:p>
            <a:pPr>
              <a:spcAft>
                <a:spcPts val="500"/>
              </a:spcAft>
              <a:defRPr sz="1100">
                <a:solidFill>
                  <a:srgbClr val="1E293B"/>
                </a:solidFill>
                <a:latin typeface="Liberation Sans"/>
              </a:defRPr>
            </a:pPr>
          </a:p>
          <a:p>
            <a:pPr>
              <a:spcAft>
                <a:spcPts val="500"/>
              </a:spcAft>
              <a:defRPr sz="1100">
                <a:solidFill>
                  <a:srgbClr val="1E293B"/>
                </a:solidFill>
                <a:latin typeface="Liberation Sans"/>
              </a:defRPr>
            </a:pPr>
            <a:r>
              <a:t>4. PKT_ACK &amp; Active Session:</a:t>
            </a:r>
          </a:p>
          <a:p>
            <a:pPr>
              <a:spcAft>
                <a:spcPts val="500"/>
              </a:spcAft>
              <a:defRPr sz="1100">
                <a:solidFill>
                  <a:srgbClr val="1E293B"/>
                </a:solidFill>
                <a:latin typeface="Liberation Sans"/>
              </a:defRPr>
            </a:pPr>
            <a:r>
              <a:t>   Server ──► Client: ACK. Key derived via SHAKE256 KDF.</a:t>
            </a:r>
          </a:p>
          <a:p>
            <a:pPr>
              <a:spcAft>
                <a:spcPts val="500"/>
              </a:spcAft>
              <a:defRPr sz="1100">
                <a:solidFill>
                  <a:srgbClr val="1E293B"/>
                </a:solidFill>
                <a:latin typeface="Liberation Sans"/>
              </a:defRPr>
            </a:pPr>
            <a:r>
              <a:t>   Symmetric AEAD active (ChaCha20-Poly1305).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2120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64592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0284C7"/>
                </a:solidFill>
                <a:latin typeface="Liberation Sans"/>
              </a:defRPr>
            </a:pPr>
            <a:r>
              <a:t>🖥️ Decoupled POSIX IPC Server Engine</a:t>
            </a:r>
          </a:p>
          <a:p>
            <a:pPr>
              <a:spcAft>
                <a:spcPts val="500"/>
              </a:spcAft>
              <a:defRPr sz="1100">
                <a:solidFill>
                  <a:srgbClr val="1E293B"/>
                </a:solidFill>
                <a:latin typeface="Liberation Sans"/>
              </a:defRPr>
            </a:pPr>
            <a:r>
              <a:t>• Server Core Daemon (server):</a:t>
            </a:r>
          </a:p>
          <a:p>
            <a:pPr>
              <a:spcAft>
                <a:spcPts val="500"/>
              </a:spcAft>
              <a:defRPr sz="1100">
                <a:solidFill>
                  <a:srgbClr val="1E293B"/>
                </a:solidFill>
                <a:latin typeface="Liberation Sans"/>
              </a:defRPr>
            </a:pPr>
            <a:r>
              <a:t>   Listens on UDP port 9877 using Linux io_uring async I/O.</a:t>
            </a:r>
          </a:p>
          <a:p>
            <a:pPr>
              <a:spcAft>
                <a:spcPts val="500"/>
              </a:spcAft>
              <a:defRPr sz="1100">
                <a:solidFill>
                  <a:srgbClr val="1E293B"/>
                </a:solidFill>
                <a:latin typeface="Liberation Sans"/>
              </a:defRPr>
            </a:pPr>
          </a:p>
          <a:p>
            <a:pPr>
              <a:spcAft>
                <a:spcPts val="500"/>
              </a:spcAft>
              <a:defRPr sz="1100">
                <a:solidFill>
                  <a:srgbClr val="1E293B"/>
                </a:solidFill>
                <a:latin typeface="Liberation Sans"/>
              </a:defRPr>
            </a:pPr>
            <a:r>
              <a:t>• Receiver Console (server_rx):</a:t>
            </a:r>
          </a:p>
          <a:p>
            <a:pPr>
              <a:spcAft>
                <a:spcPts val="500"/>
              </a:spcAft>
              <a:defRPr sz="1100">
                <a:solidFill>
                  <a:srgbClr val="1E293B"/>
                </a:solidFill>
                <a:latin typeface="Liberation Sans"/>
              </a:defRPr>
            </a:pPr>
            <a:r>
              <a:t>   Connects via /tmp/pqc_rx.sock UNIX socket. Displays decrypted text and network telemetry.</a:t>
            </a:r>
          </a:p>
          <a:p>
            <a:pPr>
              <a:spcAft>
                <a:spcPts val="500"/>
              </a:spcAft>
              <a:defRPr sz="1100">
                <a:solidFill>
                  <a:srgbClr val="1E293B"/>
                </a:solidFill>
                <a:latin typeface="Liberation Sans"/>
              </a:defRPr>
            </a:pPr>
          </a:p>
          <a:p>
            <a:pPr>
              <a:spcAft>
                <a:spcPts val="500"/>
              </a:spcAft>
              <a:defRPr sz="1100">
                <a:solidFill>
                  <a:srgbClr val="1E293B"/>
                </a:solidFill>
                <a:latin typeface="Liberation Sans"/>
              </a:defRPr>
            </a:pPr>
            <a:r>
              <a:t>• Sender Console (server_tx):</a:t>
            </a:r>
          </a:p>
          <a:p>
            <a:pPr>
              <a:spcAft>
                <a:spcPts val="500"/>
              </a:spcAft>
              <a:defRPr sz="1100">
                <a:solidFill>
                  <a:srgbClr val="1E293B"/>
                </a:solidFill>
                <a:latin typeface="Liberation Sans"/>
              </a:defRPr>
            </a:pPr>
            <a:r>
              <a:t>   Connects via /tmp/pqc_tx.sock UNIX socket. Sends operator commands.</a:t>
            </a:r>
          </a:p>
          <a:p>
            <a:pPr>
              <a:spcAft>
                <a:spcPts val="500"/>
              </a:spcAft>
              <a:defRPr sz="1100">
                <a:solidFill>
                  <a:srgbClr val="1E293B"/>
                </a:solidFill>
                <a:latin typeface="Liberation Sans"/>
              </a:defRPr>
            </a:pPr>
          </a:p>
          <a:p>
            <a:pPr>
              <a:spcAft>
                <a:spcPts val="500"/>
              </a:spcAft>
              <a:defRPr sz="1100">
                <a:solidFill>
                  <a:srgbClr val="1E293B"/>
                </a:solidFill>
                <a:latin typeface="Liberation Sans"/>
              </a:defRPr>
            </a:pPr>
            <a:r>
              <a:t>• Zero Display Latency:</a:t>
            </a:r>
          </a:p>
          <a:p>
            <a:pPr>
              <a:spcAft>
                <a:spcPts val="500"/>
              </a:spcAft>
              <a:defRPr sz="1100">
                <a:solidFill>
                  <a:srgbClr val="1E293B"/>
                </a:solidFill>
                <a:latin typeface="Liberation Sans"/>
              </a:defRPr>
            </a:pPr>
            <a:r>
              <a:t>   UI rendering decoupled from network packet routing.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0284C7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Liberation Sans"/>
              </a:defRPr>
            </a:pPr>
            <a:r>
              <a:t>Cryptographic Specifications</a:t>
            </a:r>
          </a:p>
          <a:p>
            <a:pPr>
              <a:spcBef>
                <a:spcPts val="400"/>
              </a:spcBef>
              <a:defRPr sz="1200">
                <a:solidFill>
                  <a:srgbClr val="64748B"/>
                </a:solidFill>
                <a:latin typeface="Liberation Sans"/>
              </a:defRPr>
            </a:pPr>
            <a:r>
              <a:t>NIST Category 3 (~AES-192) standardized cipher suite selection.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Liberation Sans"/>
              </a:defRPr>
            </a:pPr>
            <a:r>
              <a:t>SIMD-Accelerated Post-Quantum Cryptography Framework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45775" y="640080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1E3A8A"/>
                </a:solidFill>
                <a:latin typeface="Liberation Sans"/>
              </a:defRPr>
            </a:pPr>
            <a:r>
              <a:t>7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463040"/>
          <a:ext cx="10728655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2560320"/>
                <a:gridCol w="2011680"/>
                <a:gridCol w="2560320"/>
                <a:gridCol w="2224735"/>
              </a:tblGrid>
              <a:tr h="585216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Liberation Sans"/>
                        </a:defRPr>
                      </a:pPr>
                      <a:r>
                        <a:t>Primitive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Liberation Sans"/>
                        </a:defRPr>
                      </a:pPr>
                      <a:r>
                        <a:t>Standard / Algorithm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Liberation Sans"/>
                        </a:defRPr>
                      </a:pPr>
                      <a:r>
                        <a:t>Security Category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Liberation Sans"/>
                        </a:defRPr>
                      </a:pPr>
                      <a:r>
                        <a:t>Primary Function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Liberation Sans"/>
                        </a:defRPr>
                      </a:pPr>
                      <a:r>
                        <a:t>Key / Artifact Sizes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Liberation Sans"/>
                        </a:defRPr>
                      </a:pPr>
                      <a:r>
                        <a:t>KEM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Liberation Sans"/>
                        </a:defRPr>
                      </a:pPr>
                      <a:r>
                        <a:t>ML-KEM-768 (Kyber768)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Liberation Sans"/>
                        </a:defRPr>
                      </a:pPr>
                      <a:r>
                        <a:t>NIST Cat 3 (~AES-192)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Liberation Sans"/>
                        </a:defRPr>
                      </a:pPr>
                      <a:r>
                        <a:t>Ephemeral Key Exchange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Liberation Sans"/>
                        </a:defRPr>
                      </a:pPr>
                      <a:r>
                        <a:t>PK: 1,184 B | CT: 1,088 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Liberation Sans"/>
                        </a:defRPr>
                      </a:pPr>
                      <a:r>
                        <a:t>DSA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Liberation Sans"/>
                        </a:defRPr>
                      </a:pPr>
                      <a:r>
                        <a:t>ML-DSA-65 (Dilithium3)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Liberation Sans"/>
                        </a:defRPr>
                      </a:pPr>
                      <a:r>
                        <a:t>NIST Cat 3 (~AES-192)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Liberation Sans"/>
                        </a:defRPr>
                      </a:pPr>
                      <a:r>
                        <a:t>Mutual Auth &amp; Signing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Liberation Sans"/>
                        </a:defRPr>
                      </a:pPr>
                      <a:r>
                        <a:t>PK: 1,952 B | Sig: 3,293 B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Liberation Sans"/>
                        </a:defRPr>
                      </a:pPr>
                      <a:r>
                        <a:t>AEAD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Liberation Sans"/>
                        </a:defRPr>
                      </a:pPr>
                      <a:r>
                        <a:t>ChaCha20-Poly1305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Liberation Sans"/>
                        </a:defRPr>
                      </a:pPr>
                      <a:r>
                        <a:t>256-bit Key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Liberation Sans"/>
                        </a:defRPr>
                      </a:pPr>
                      <a:r>
                        <a:t>Authenticated Encryption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Liberation Sans"/>
                        </a:defRPr>
                      </a:pPr>
                      <a:r>
                        <a:t>Key: 32 B | Nonce: 12 B | Tag: 16 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Liberation Sans"/>
                        </a:defRPr>
                      </a:pPr>
                      <a:r>
                        <a:t>Hash &amp; KDF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Liberation Sans"/>
                        </a:defRPr>
                      </a:pPr>
                      <a:r>
                        <a:t>SHAKE256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Liberation Sans"/>
                        </a:defRPr>
                      </a:pPr>
                      <a:r>
                        <a:t>Extendable Output (XOF)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Liberation Sans"/>
                        </a:defRPr>
                      </a:pPr>
                      <a:r>
                        <a:t>Transcript &amp; Key Derivation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Liberation Sans"/>
                        </a:defRPr>
                      </a:pPr>
                      <a:r>
                        <a:t>Variable Output Length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31520" y="4663440"/>
            <a:ext cx="10728655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4846320"/>
            <a:ext cx="102714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E3A8A"/>
                </a:solidFill>
                <a:latin typeface="Liberation Sans"/>
              </a:defRPr>
            </a:pPr>
            <a:r>
              <a:t>💡 Hybrid Operational Security</a:t>
            </a:r>
          </a:p>
          <a:p>
            <a:pPr>
              <a:spcAft>
                <a:spcPts val="500"/>
              </a:spcAft>
              <a:defRPr sz="1100">
                <a:solidFill>
                  <a:srgbClr val="1E293B"/>
                </a:solidFill>
                <a:latin typeface="Liberation Sans"/>
              </a:defRPr>
            </a:pPr>
            <a:r>
              <a:t>• Combines forward-secret ephemeral ML-KEM-768 key exchange with ML-DSA-65 digital signature authentication.</a:t>
            </a:r>
          </a:p>
          <a:p>
            <a:pPr>
              <a:spcAft>
                <a:spcPts val="500"/>
              </a:spcAft>
              <a:defRPr sz="1100">
                <a:solidFill>
                  <a:srgbClr val="1E293B"/>
                </a:solidFill>
                <a:latin typeface="Liberation Sans"/>
              </a:defRPr>
            </a:pPr>
            <a:r>
              <a:t>• Once established via SHAKE256 KDF, communications switch to ChaCha20-Poly1305 AEAD payload streaming.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0284C7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Liberation Sans"/>
              </a:defRPr>
            </a:pPr>
            <a:r>
              <a:t>Formal Security Verification (ProVerif)</a:t>
            </a:r>
          </a:p>
          <a:p>
            <a:pPr>
              <a:spcBef>
                <a:spcPts val="400"/>
              </a:spcBef>
              <a:defRPr sz="1200">
                <a:solidFill>
                  <a:srgbClr val="64748B"/>
                </a:solidFill>
                <a:latin typeface="Liberation Sans"/>
              </a:defRPr>
            </a:pPr>
            <a:r>
              <a:t>Applied Pi-Calculus mathematical proofs under Dolev-Yao attacker model.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Liberation Sans"/>
              </a:defRPr>
            </a:pPr>
            <a:r>
              <a:t>SIMD-Accelerated Post-Quantum Cryptography Framework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45775" y="640080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1E3A8A"/>
                </a:solidFill>
                <a:latin typeface="Liberation Sans"/>
              </a:defRPr>
            </a:pPr>
            <a:r>
              <a:t>8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463040"/>
          <a:ext cx="68580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1371600"/>
                <a:gridCol w="3291840"/>
              </a:tblGrid>
              <a:tr h="7620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Liberation Sans"/>
                        </a:defRPr>
                      </a:pPr>
                      <a:r>
                        <a:t>Security Property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Liberation Sans"/>
                        </a:defRPr>
                      </a:pPr>
                      <a:r>
                        <a:t>Result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Liberation Sans"/>
                        </a:defRPr>
                      </a:pPr>
                      <a:r>
                        <a:t>ProVerif Formal Query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Liberation Sans"/>
                        </a:defRPr>
                      </a:pPr>
                      <a:r>
                        <a:t>Session Key Secrecy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B981"/>
                          </a:solidFill>
                          <a:latin typeface="Liberation Sans"/>
                        </a:defRPr>
                      </a:pPr>
                      <a:r>
                        <a:t>VERIFIED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Liberation Sans"/>
                        </a:defRPr>
                      </a:pPr>
                      <a:r>
                        <a:t>query attacker(session_key_secret)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Liberation Sans"/>
                        </a:defRPr>
                      </a:pPr>
                      <a:r>
                        <a:t>Client Payload Secrecy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B981"/>
                          </a:solidFill>
                          <a:latin typeface="Liberation Sans"/>
                        </a:defRPr>
                      </a:pPr>
                      <a:r>
                        <a:t>VERIFIED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Liberation Sans"/>
                        </a:defRPr>
                      </a:pPr>
                      <a:r>
                        <a:t>query attacker(client_data)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Liberation Sans"/>
                        </a:defRPr>
                      </a:pPr>
                      <a:r>
                        <a:t>Server Payload Secrecy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B981"/>
                          </a:solidFill>
                          <a:latin typeface="Liberation Sans"/>
                        </a:defRPr>
                      </a:pPr>
                      <a:r>
                        <a:t>VERIFIED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Liberation Sans"/>
                        </a:defRPr>
                      </a:pPr>
                      <a:r>
                        <a:t>query attacker(server_data)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Liberation Sans"/>
                        </a:defRPr>
                      </a:pPr>
                      <a:r>
                        <a:t>Injective Mutual Auth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B981"/>
                          </a:solidFill>
                          <a:latin typeface="Liberation Sans"/>
                        </a:defRPr>
                      </a:pPr>
                      <a:r>
                        <a:t>VERIFIED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Liberation Sans"/>
                        </a:defRPr>
                      </a:pPr>
                      <a:r>
                        <a:t>inj-event(server_accepts) ==&gt; client_initiates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Liberation Sans"/>
                        </a:defRPr>
                      </a:pPr>
                      <a:r>
                        <a:t>Perfect Forward Secrecy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B981"/>
                          </a:solidFill>
                          <a:latin typeface="Liberation Sans"/>
                        </a:defRPr>
                      </a:pPr>
                      <a:r>
                        <a:t>VERIFIED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Liberation Sans"/>
                        </a:defRPr>
                      </a:pPr>
                      <a:r>
                        <a:t>Phase 1 long-term key leak query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863840" y="1463040"/>
            <a:ext cx="3596335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92440" y="1645920"/>
            <a:ext cx="3139135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0B981"/>
                </a:solidFill>
                <a:latin typeface="Liberation Sans"/>
              </a:defRPr>
            </a:pPr>
            <a:r>
              <a:t>🔍 Verification Highlights</a:t>
            </a:r>
          </a:p>
          <a:p>
            <a:pPr>
              <a:spcAft>
                <a:spcPts val="500"/>
              </a:spcAft>
              <a:defRPr sz="1100">
                <a:solidFill>
                  <a:srgbClr val="1E293B"/>
                </a:solidFill>
                <a:latin typeface="Liberation Sans"/>
              </a:defRPr>
            </a:pPr>
            <a:r>
              <a:t>• Dolev-Yao Attacker Model:</a:t>
            </a:r>
          </a:p>
          <a:p>
            <a:pPr>
              <a:spcAft>
                <a:spcPts val="500"/>
              </a:spcAft>
              <a:defRPr sz="1100">
                <a:solidFill>
                  <a:srgbClr val="1E293B"/>
                </a:solidFill>
                <a:latin typeface="Liberation Sans"/>
              </a:defRPr>
            </a:pPr>
            <a:r>
              <a:t>   Active adversary controls physical network packets.</a:t>
            </a:r>
          </a:p>
          <a:p>
            <a:pPr>
              <a:spcAft>
                <a:spcPts val="500"/>
              </a:spcAft>
              <a:defRPr sz="1100">
                <a:solidFill>
                  <a:srgbClr val="1E293B"/>
                </a:solidFill>
                <a:latin typeface="Liberation Sans"/>
              </a:defRPr>
            </a:pPr>
          </a:p>
          <a:p>
            <a:pPr>
              <a:spcAft>
                <a:spcPts val="500"/>
              </a:spcAft>
              <a:defRPr sz="1100">
                <a:solidFill>
                  <a:srgbClr val="1E293B"/>
                </a:solidFill>
                <a:latin typeface="Liberation Sans"/>
              </a:defRPr>
            </a:pPr>
            <a:r>
              <a:t>• Phase-Based PFS Modeling:</a:t>
            </a:r>
          </a:p>
          <a:p>
            <a:pPr>
              <a:spcAft>
                <a:spcPts val="500"/>
              </a:spcAft>
              <a:defRPr sz="1100">
                <a:solidFill>
                  <a:srgbClr val="1E293B"/>
                </a:solidFill>
                <a:latin typeface="Liberation Sans"/>
              </a:defRPr>
            </a:pPr>
            <a:r>
              <a:t>   Phase 0: Honest sessions.</a:t>
            </a:r>
          </a:p>
          <a:p>
            <a:pPr>
              <a:spcAft>
                <a:spcPts val="500"/>
              </a:spcAft>
              <a:defRPr sz="1100">
                <a:solidFill>
                  <a:srgbClr val="1E293B"/>
                </a:solidFill>
                <a:latin typeface="Liberation Sans"/>
              </a:defRPr>
            </a:pPr>
            <a:r>
              <a:t>   Phase 1: Long-term signature key leaked to network.</a:t>
            </a:r>
          </a:p>
          <a:p>
            <a:pPr>
              <a:spcAft>
                <a:spcPts val="500"/>
              </a:spcAft>
              <a:defRPr sz="1100">
                <a:solidFill>
                  <a:srgbClr val="1E293B"/>
                </a:solidFill>
                <a:latin typeface="Liberation Sans"/>
              </a:defRPr>
            </a:pPr>
            <a:r>
              <a:t>   Result: Phase 0 session keys remain secret.</a:t>
            </a:r>
          </a:p>
          <a:p>
            <a:pPr>
              <a:spcAft>
                <a:spcPts val="500"/>
              </a:spcAft>
              <a:defRPr sz="1100">
                <a:solidFill>
                  <a:srgbClr val="1E293B"/>
                </a:solidFill>
                <a:latin typeface="Liberation Sans"/>
              </a:defRPr>
            </a:pPr>
          </a:p>
          <a:p>
            <a:pPr>
              <a:spcAft>
                <a:spcPts val="500"/>
              </a:spcAft>
              <a:defRPr sz="1100">
                <a:solidFill>
                  <a:srgbClr val="1E293B"/>
                </a:solidFill>
                <a:latin typeface="Liberation Sans"/>
              </a:defRPr>
            </a:pPr>
            <a:r>
              <a:t>• Attack Immunity:</a:t>
            </a:r>
          </a:p>
          <a:p>
            <a:pPr>
              <a:spcAft>
                <a:spcPts val="500"/>
              </a:spcAft>
              <a:defRPr sz="1100">
                <a:solidFill>
                  <a:srgbClr val="1E293B"/>
                </a:solidFill>
                <a:latin typeface="Liberation Sans"/>
              </a:defRPr>
            </a:pPr>
            <a:r>
              <a:t>   Proven resistant to KEM substitution, UKS attacks, and reflection.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0284C7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Liberation Sans"/>
              </a:defRPr>
            </a:pPr>
            <a:r>
              <a:t>SIMD Hardware Acceleration &amp; Toolchain</a:t>
            </a:r>
          </a:p>
          <a:p>
            <a:pPr>
              <a:spcBef>
                <a:spcPts val="400"/>
              </a:spcBef>
              <a:defRPr sz="1200">
                <a:solidFill>
                  <a:srgbClr val="64748B"/>
                </a:solidFill>
                <a:latin typeface="Liberation Sans"/>
              </a:defRPr>
            </a:pPr>
            <a:r>
              <a:t>Microarchitectural vectorization and isolated arm64_ref build environment.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Liberation Sans"/>
              </a:defRPr>
            </a:pPr>
            <a:r>
              <a:t>SIMD-Accelerated Post-Quantum Cryptography Framework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45775" y="640080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1E3A8A"/>
                </a:solidFill>
                <a:latin typeface="Liberation Sans"/>
              </a:defRPr>
            </a:pPr>
            <a:r>
              <a:t>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2120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64592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E3A8A"/>
                </a:solidFill>
                <a:latin typeface="Liberation Sans"/>
              </a:defRPr>
            </a:pPr>
            <a:r>
              <a:t>⚡ SIMD Acceleration Pipeline</a:t>
            </a:r>
          </a:p>
          <a:p>
            <a:pPr>
              <a:spcAft>
                <a:spcPts val="500"/>
              </a:spcAft>
              <a:defRPr sz="1100">
                <a:solidFill>
                  <a:srgbClr val="1E293B"/>
                </a:solidFill>
                <a:latin typeface="Liberation Sans"/>
              </a:defRPr>
            </a:pPr>
            <a:r>
              <a:t>• x86_64 Server Acceleration:</a:t>
            </a:r>
          </a:p>
          <a:p>
            <a:pPr>
              <a:spcAft>
                <a:spcPts val="500"/>
              </a:spcAft>
              <a:defRPr sz="1100">
                <a:solidFill>
                  <a:srgbClr val="1E293B"/>
                </a:solidFill>
                <a:latin typeface="Liberation Sans"/>
              </a:defRPr>
            </a:pPr>
            <a:r>
              <a:t>   AVX2 256-bit vector registers + BMI2 instruction set. Parallelizes polynomial NTT &amp; Keccak SHAKE256 lanes.</a:t>
            </a:r>
          </a:p>
          <a:p>
            <a:pPr>
              <a:spcAft>
                <a:spcPts val="500"/>
              </a:spcAft>
              <a:defRPr sz="1100">
                <a:solidFill>
                  <a:srgbClr val="1E293B"/>
                </a:solidFill>
                <a:latin typeface="Liberation Sans"/>
              </a:defRPr>
            </a:pPr>
            <a:r>
              <a:t>   Result: 3.2x speedup over scalar C.</a:t>
            </a:r>
          </a:p>
          <a:p>
            <a:pPr>
              <a:spcAft>
                <a:spcPts val="500"/>
              </a:spcAft>
              <a:defRPr sz="1100">
                <a:solidFill>
                  <a:srgbClr val="1E293B"/>
                </a:solidFill>
                <a:latin typeface="Liberation Sans"/>
              </a:defRPr>
            </a:pPr>
          </a:p>
          <a:p>
            <a:pPr>
              <a:spcAft>
                <a:spcPts val="500"/>
              </a:spcAft>
              <a:defRPr sz="1100">
                <a:solidFill>
                  <a:srgbClr val="1E293B"/>
                </a:solidFill>
                <a:latin typeface="Liberation Sans"/>
              </a:defRPr>
            </a:pPr>
            <a:r>
              <a:t>• ARM64 (Raspberry Pi 4/5):</a:t>
            </a:r>
          </a:p>
          <a:p>
            <a:pPr>
              <a:spcAft>
                <a:spcPts val="500"/>
              </a:spcAft>
              <a:defRPr sz="1100">
                <a:solidFill>
                  <a:srgbClr val="1E293B"/>
                </a:solidFill>
                <a:latin typeface="Liberation Sans"/>
              </a:defRPr>
            </a:pPr>
            <a:r>
              <a:t>   128-bit NEON SIMD vector registers.</a:t>
            </a:r>
          </a:p>
          <a:p>
            <a:pPr>
              <a:spcAft>
                <a:spcPts val="500"/>
              </a:spcAft>
              <a:defRPr sz="1100">
                <a:solidFill>
                  <a:srgbClr val="1E293B"/>
                </a:solidFill>
                <a:latin typeface="Liberation Sans"/>
              </a:defRPr>
            </a:pPr>
            <a:r>
              <a:t>   Result: 2.8x speedup over scalar ARM C.</a:t>
            </a:r>
          </a:p>
          <a:p>
            <a:pPr>
              <a:spcAft>
                <a:spcPts val="500"/>
              </a:spcAft>
              <a:defRPr sz="1100">
                <a:solidFill>
                  <a:srgbClr val="1E293B"/>
                </a:solidFill>
                <a:latin typeface="Liberation Sans"/>
              </a:defRPr>
            </a:pPr>
          </a:p>
          <a:p>
            <a:pPr>
              <a:spcAft>
                <a:spcPts val="500"/>
              </a:spcAft>
              <a:defRPr sz="1100">
                <a:solidFill>
                  <a:srgbClr val="1E293B"/>
                </a:solidFill>
                <a:latin typeface="Liberation Sans"/>
              </a:defRPr>
            </a:pPr>
            <a:r>
              <a:t>• ARM32 (Raspberry Pi 3):</a:t>
            </a:r>
          </a:p>
          <a:p>
            <a:pPr>
              <a:spcAft>
                <a:spcPts val="500"/>
              </a:spcAft>
              <a:defRPr sz="1100">
                <a:solidFill>
                  <a:srgbClr val="1E293B"/>
                </a:solidFill>
                <a:latin typeface="Liberation Sans"/>
              </a:defRPr>
            </a:pPr>
            <a:r>
              <a:t>   NEON + VFPv4 hard-float execution.</a:t>
            </a:r>
          </a:p>
          <a:p>
            <a:pPr>
              <a:spcAft>
                <a:spcPts val="500"/>
              </a:spcAft>
              <a:defRPr sz="1100">
                <a:solidFill>
                  <a:srgbClr val="1E293B"/>
                </a:solidFill>
                <a:latin typeface="Liberation Sans"/>
              </a:defRPr>
            </a:pPr>
            <a:r>
              <a:t>   Result: 2.1x speedup over scalar ARM32.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2120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64592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0284C7"/>
                </a:solidFill>
                <a:latin typeface="Liberation Sans"/>
              </a:defRPr>
            </a:pPr>
            <a:r>
              <a:t>🛠️ Portable arm64_ref Toolchain</a:t>
            </a:r>
          </a:p>
          <a:p>
            <a:pPr>
              <a:spcAft>
                <a:spcPts val="500"/>
              </a:spcAft>
              <a:defRPr sz="1100">
                <a:solidFill>
                  <a:srgbClr val="1E293B"/>
                </a:solidFill>
                <a:latin typeface="Liberation Sans"/>
              </a:defRPr>
            </a:pPr>
            <a:r>
              <a:t>• Cross-Compilation Challenge:</a:t>
            </a:r>
          </a:p>
          <a:p>
            <a:pPr>
              <a:spcAft>
                <a:spcPts val="500"/>
              </a:spcAft>
              <a:defRPr sz="1100">
                <a:solidFill>
                  <a:srgbClr val="1E293B"/>
                </a:solidFill>
                <a:latin typeface="Liberation Sans"/>
              </a:defRPr>
            </a:pPr>
            <a:r>
              <a:t>   Compiling ARM binaries on x86 host leads to OpenSSL static library architecture mismatches (ELFCLASS64).</a:t>
            </a:r>
          </a:p>
          <a:p>
            <a:pPr>
              <a:spcAft>
                <a:spcPts val="500"/>
              </a:spcAft>
              <a:defRPr sz="1100">
                <a:solidFill>
                  <a:srgbClr val="1E293B"/>
                </a:solidFill>
                <a:latin typeface="Liberation Sans"/>
              </a:defRPr>
            </a:pPr>
          </a:p>
          <a:p>
            <a:pPr>
              <a:spcAft>
                <a:spcPts val="500"/>
              </a:spcAft>
              <a:defRPr sz="1100">
                <a:solidFill>
                  <a:srgbClr val="1E293B"/>
                </a:solidFill>
                <a:latin typeface="Liberation Sans"/>
              </a:defRPr>
            </a:pPr>
            <a:r>
              <a:t>• Standalone Toolchain Solution:</a:t>
            </a:r>
          </a:p>
          <a:p>
            <a:pPr>
              <a:spcAft>
                <a:spcPts val="500"/>
              </a:spcAft>
              <a:defRPr sz="1100">
                <a:solidFill>
                  <a:srgbClr val="1E293B"/>
                </a:solidFill>
                <a:latin typeface="Liberation Sans"/>
              </a:defRPr>
            </a:pPr>
            <a:r>
              <a:t>   Engineered arm64_ref/ containing ARM64 pre-compiled static libraries (libcrypto.a, liboqs.a) and matching headers.</a:t>
            </a:r>
          </a:p>
          <a:p>
            <a:pPr>
              <a:spcAft>
                <a:spcPts val="500"/>
              </a:spcAft>
              <a:defRPr sz="1100">
                <a:solidFill>
                  <a:srgbClr val="1E293B"/>
                </a:solidFill>
                <a:latin typeface="Liberation Sans"/>
              </a:defRPr>
            </a:pPr>
          </a:p>
          <a:p>
            <a:pPr>
              <a:spcAft>
                <a:spcPts val="500"/>
              </a:spcAft>
              <a:defRPr sz="1100">
                <a:solidFill>
                  <a:srgbClr val="1E293B"/>
                </a:solidFill>
                <a:latin typeface="Liberation Sans"/>
              </a:defRPr>
            </a:pPr>
            <a:r>
              <a:t>• Immediate Cross-Build:</a:t>
            </a:r>
          </a:p>
          <a:p>
            <a:pPr>
              <a:spcAft>
                <a:spcPts val="500"/>
              </a:spcAft>
              <a:defRPr sz="1100">
                <a:solidFill>
                  <a:srgbClr val="1E293B"/>
                </a:solidFill>
                <a:latin typeface="Liberation Sans"/>
              </a:defRPr>
            </a:pPr>
            <a:r>
              <a:t>   Enables immediate cross-compilation via aarch64-linux-gnu-gcc without system multi-arch pollution.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0284C7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Liberation Sans"/>
              </a:defRPr>
            </a:pPr>
            <a:r>
              <a:t>Experimental Testbed &amp; Empirical Results</a:t>
            </a:r>
          </a:p>
          <a:p>
            <a:pPr>
              <a:spcBef>
                <a:spcPts val="400"/>
              </a:spcBef>
              <a:defRPr sz="1200">
                <a:solidFill>
                  <a:srgbClr val="64748B"/>
                </a:solidFill>
                <a:latin typeface="Liberation Sans"/>
              </a:defRPr>
            </a:pPr>
            <a:r>
              <a:t>Hardware evaluation matrix, primitive timings, and performance KPIs.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Liberation Sans"/>
              </a:defRPr>
            </a:pPr>
            <a:r>
              <a:t>SIMD-Accelerated Post-Quantum Cryptography Framework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45775" y="640080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1E3A8A"/>
                </a:solidFill>
                <a:latin typeface="Liberation Sans"/>
              </a:defRPr>
            </a:pPr>
            <a:r>
              <a:t>10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463040"/>
          <a:ext cx="68580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1188720"/>
                <a:gridCol w="1188720"/>
                <a:gridCol w="1188720"/>
                <a:gridCol w="1188720"/>
              </a:tblGrid>
              <a:tr h="7620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Liberation Sans"/>
                        </a:defRPr>
                      </a:pPr>
                      <a:r>
                        <a:t>Operation (μs)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Liberation Sans"/>
                        </a:defRPr>
                      </a:pPr>
                      <a:r>
                        <a:t>x86 Server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Liberation Sans"/>
                        </a:defRPr>
                      </a:pPr>
                      <a:r>
                        <a:t>Pi 5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Liberation Sans"/>
                        </a:defRPr>
                      </a:pPr>
                      <a:r>
                        <a:t>Pi 4B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Liberation Sans"/>
                        </a:defRPr>
                      </a:pPr>
                      <a:r>
                        <a:t>Pi 3B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Liberation Sans"/>
                        </a:defRPr>
                      </a:pPr>
                      <a:r>
                        <a:t>ML-KEM KeyGen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Liberation Sans"/>
                        </a:defRPr>
                      </a:pPr>
                      <a:r>
                        <a:t>14.2 μs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Liberation Sans"/>
                        </a:defRPr>
                      </a:pPr>
                      <a:r>
                        <a:t>45.8 μs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Liberation Sans"/>
                        </a:defRPr>
                      </a:pPr>
                      <a:r>
                        <a:t>98.4 μs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Liberation Sans"/>
                        </a:defRPr>
                      </a:pPr>
                      <a:r>
                        <a:t>245.1 μs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Liberation Sans"/>
                        </a:defRPr>
                      </a:pPr>
                      <a:r>
                        <a:t>ML-KEM Encap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Liberation Sans"/>
                        </a:defRPr>
                      </a:pPr>
                      <a:r>
                        <a:t>18.6 μs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Liberation Sans"/>
                        </a:defRPr>
                      </a:pPr>
                      <a:r>
                        <a:t>58.2 μs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Liberation Sans"/>
                        </a:defRPr>
                      </a:pPr>
                      <a:r>
                        <a:t>122.6 μs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Liberation Sans"/>
                        </a:defRPr>
                      </a:pPr>
                      <a:r>
                        <a:t>310.5 μs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Liberation Sans"/>
                        </a:defRPr>
                      </a:pPr>
                      <a:r>
                        <a:t>ML-KEM Decap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Liberation Sans"/>
                        </a:defRPr>
                      </a:pPr>
                      <a:r>
                        <a:t>15.1 μs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Liberation Sans"/>
                        </a:defRPr>
                      </a:pPr>
                      <a:r>
                        <a:t>49.6 μs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Liberation Sans"/>
                        </a:defRPr>
                      </a:pPr>
                      <a:r>
                        <a:t>104.2 μs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Liberation Sans"/>
                        </a:defRPr>
                      </a:pPr>
                      <a:r>
                        <a:t>268.0 μs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Liberation Sans"/>
                        </a:defRPr>
                      </a:pPr>
                      <a:r>
                        <a:t>ML-DSA Sign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Liberation Sans"/>
                        </a:defRPr>
                      </a:pPr>
                      <a:r>
                        <a:t>62.4 μs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Liberation Sans"/>
                        </a:defRPr>
                      </a:pPr>
                      <a:r>
                        <a:t>185.3 μs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Liberation Sans"/>
                        </a:defRPr>
                      </a:pPr>
                      <a:r>
                        <a:t>395.0 μs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Liberation Sans"/>
                        </a:defRPr>
                      </a:pPr>
                      <a:r>
                        <a:t>980.2 μs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Liberation Sans"/>
                        </a:defRPr>
                      </a:pPr>
                      <a:r>
                        <a:t>ML-DSA Verify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Liberation Sans"/>
                        </a:defRPr>
                      </a:pPr>
                      <a:r>
                        <a:t>24.8 μs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Liberation Sans"/>
                        </a:defRPr>
                      </a:pPr>
                      <a:r>
                        <a:t>76.1 μs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Liberation Sans"/>
                        </a:defRPr>
                      </a:pPr>
                      <a:r>
                        <a:t>158.4 μs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Liberation Sans"/>
                        </a:defRPr>
                      </a:pPr>
                      <a:r>
                        <a:t>412.6 μs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863840" y="1463040"/>
            <a:ext cx="3596335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92440" y="1645920"/>
            <a:ext cx="313913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E3A8A"/>
                </a:solidFill>
                <a:latin typeface="Liberation Sans"/>
              </a:defRPr>
            </a:pPr>
            <a:r>
              <a:t>0.85 ms</a:t>
            </a:r>
          </a:p>
          <a:p>
            <a:pPr>
              <a:spcAft>
                <a:spcPts val="500"/>
              </a:spcAft>
              <a:defRPr sz="1100">
                <a:solidFill>
                  <a:srgbClr val="1E293B"/>
                </a:solidFill>
                <a:latin typeface="Liberation Sans"/>
              </a:defRPr>
            </a:pPr>
            <a:r>
              <a:t>Single Client LAN Handshake RTT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0" y="2651760"/>
            <a:ext cx="3596335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92440" y="2834640"/>
            <a:ext cx="313913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0B981"/>
                </a:solidFill>
                <a:latin typeface="Liberation Sans"/>
              </a:defRPr>
            </a:pPr>
            <a:r>
              <a:t>850 HS/sec</a:t>
            </a:r>
          </a:p>
          <a:p>
            <a:pPr>
              <a:spcAft>
                <a:spcPts val="500"/>
              </a:spcAft>
              <a:defRPr sz="1100">
                <a:solidFill>
                  <a:srgbClr val="1E293B"/>
                </a:solidFill>
                <a:latin typeface="Liberation Sans"/>
              </a:defRPr>
            </a:pPr>
            <a:r>
              <a:t>Peak Server Handshake Throughput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63840" y="3840480"/>
            <a:ext cx="3596335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92440" y="4023360"/>
            <a:ext cx="313913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0284C7"/>
                </a:solidFill>
                <a:latin typeface="Liberation Sans"/>
              </a:defRPr>
            </a:pPr>
            <a:r>
              <a:t>12.4 ms</a:t>
            </a:r>
          </a:p>
          <a:p>
            <a:pPr>
              <a:spcAft>
                <a:spcPts val="500"/>
              </a:spcAft>
              <a:defRPr sz="1100">
                <a:solidFill>
                  <a:srgbClr val="1E293B"/>
                </a:solidFill>
                <a:latin typeface="Liberation Sans"/>
              </a:defRPr>
            </a:pPr>
            <a:r>
              <a:t>P99 Latency (500 Clients)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63840" y="5029200"/>
            <a:ext cx="3596335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92440" y="5212080"/>
            <a:ext cx="313913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0F172A"/>
                </a:solidFill>
                <a:latin typeface="Liberation Sans"/>
              </a:defRPr>
            </a:pPr>
            <a:r>
              <a:t>1.8 mJ</a:t>
            </a:r>
          </a:p>
          <a:p>
            <a:pPr>
              <a:spcAft>
                <a:spcPts val="500"/>
              </a:spcAft>
              <a:defRPr sz="1100">
                <a:solidFill>
                  <a:srgbClr val="1E293B"/>
                </a:solidFill>
                <a:latin typeface="Liberation Sans"/>
              </a:defRPr>
            </a:pPr>
            <a:r>
              <a:t>Energy / Handshake on Pi 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0284C7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Liberation Sans"/>
              </a:defRPr>
            </a:pPr>
            <a:r>
              <a:t>Summary &amp; Key Internship Takeaways</a:t>
            </a:r>
          </a:p>
          <a:p>
            <a:pPr>
              <a:spcBef>
                <a:spcPts val="400"/>
              </a:spcBef>
              <a:defRPr sz="1200">
                <a:solidFill>
                  <a:srgbClr val="64748B"/>
                </a:solidFill>
                <a:latin typeface="Liberation Sans"/>
              </a:defRPr>
            </a:pPr>
            <a:r>
              <a:t>Core accomplishments, performance gains, and engineering insights.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Liberation Sans"/>
              </a:defRPr>
            </a:pPr>
            <a:r>
              <a:t>SIMD-Accelerated Post-Quantum Cryptography Framework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45775" y="640080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1E3A8A"/>
                </a:solidFill>
                <a:latin typeface="Liberation Sans"/>
              </a:defRPr>
            </a:pPr>
            <a:r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33832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645920"/>
            <a:ext cx="2926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E3A8A"/>
                </a:solidFill>
                <a:latin typeface="Liberation Sans"/>
              </a:defRPr>
            </a:pPr>
            <a:r>
              <a:t>1. Production C11 PQC</a:t>
            </a:r>
          </a:p>
          <a:p>
            <a:pPr>
              <a:spcAft>
                <a:spcPts val="500"/>
              </a:spcAft>
              <a:defRPr sz="1100">
                <a:solidFill>
                  <a:srgbClr val="1E293B"/>
                </a:solidFill>
                <a:latin typeface="Liberation Sans"/>
              </a:defRPr>
            </a:pPr>
            <a:r>
              <a:t>• Successfully developed a lightweight, low-latency 4-way UDP PQC handshake protocol.</a:t>
            </a:r>
          </a:p>
          <a:p>
            <a:pPr>
              <a:spcAft>
                <a:spcPts val="500"/>
              </a:spcAft>
              <a:defRPr sz="1100">
                <a:solidFill>
                  <a:srgbClr val="1E293B"/>
                </a:solidFill>
                <a:latin typeface="Liberation Sans"/>
              </a:defRPr>
            </a:pPr>
          </a:p>
          <a:p>
            <a:pPr>
              <a:spcAft>
                <a:spcPts val="500"/>
              </a:spcAft>
              <a:defRPr sz="1100">
                <a:solidFill>
                  <a:srgbClr val="1E293B"/>
                </a:solidFill>
                <a:latin typeface="Liberation Sans"/>
              </a:defRPr>
            </a:pPr>
            <a:r>
              <a:t>• Achieved sub-millisecond connection times (0.85 ms RTT).</a:t>
            </a:r>
          </a:p>
          <a:p>
            <a:pPr>
              <a:spcAft>
                <a:spcPts val="500"/>
              </a:spcAft>
              <a:defRPr sz="1100">
                <a:solidFill>
                  <a:srgbClr val="1E293B"/>
                </a:solidFill>
                <a:latin typeface="Liberation Sans"/>
              </a:defRPr>
            </a:pPr>
          </a:p>
          <a:p>
            <a:pPr>
              <a:spcAft>
                <a:spcPts val="500"/>
              </a:spcAft>
              <a:defRPr sz="1100">
                <a:solidFill>
                  <a:srgbClr val="1E293B"/>
                </a:solidFill>
                <a:latin typeface="Liberation Sans"/>
              </a:defRPr>
            </a:pPr>
            <a:r>
              <a:t>• Integrated ML-KEM-768, ML-DSA-65, and ChaCha20-Poly1305 AEAD.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463040"/>
            <a:ext cx="33832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1645920"/>
            <a:ext cx="2926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0284C7"/>
                </a:solidFill>
                <a:latin typeface="Liberation Sans"/>
              </a:defRPr>
            </a:pPr>
            <a:r>
              <a:t>2. Hardware Accel &amp; Scale</a:t>
            </a:r>
          </a:p>
          <a:p>
            <a:pPr>
              <a:spcAft>
                <a:spcPts val="500"/>
              </a:spcAft>
              <a:defRPr sz="1100">
                <a:solidFill>
                  <a:srgbClr val="1E293B"/>
                </a:solidFill>
                <a:latin typeface="Liberation Sans"/>
              </a:defRPr>
            </a:pPr>
            <a:r>
              <a:t>• Applied SIMD vectorization (AVX2 &amp; NEON) achieving up to 3.2x speedup.</a:t>
            </a:r>
          </a:p>
          <a:p>
            <a:pPr>
              <a:spcAft>
                <a:spcPts val="500"/>
              </a:spcAft>
              <a:defRPr sz="1100">
                <a:solidFill>
                  <a:srgbClr val="1E293B"/>
                </a:solidFill>
                <a:latin typeface="Liberation Sans"/>
              </a:defRPr>
            </a:pPr>
          </a:p>
          <a:p>
            <a:pPr>
              <a:spcAft>
                <a:spcPts val="500"/>
              </a:spcAft>
              <a:defRPr sz="1100">
                <a:solidFill>
                  <a:srgbClr val="1E293B"/>
                </a:solidFill>
                <a:latin typeface="Liberation Sans"/>
              </a:defRPr>
            </a:pPr>
            <a:r>
              <a:t>• Scaled server throughput to 850 handshakes/sec under 500 concurrent connections.</a:t>
            </a:r>
          </a:p>
          <a:p>
            <a:pPr>
              <a:spcAft>
                <a:spcPts val="500"/>
              </a:spcAft>
              <a:defRPr sz="1100">
                <a:solidFill>
                  <a:srgbClr val="1E293B"/>
                </a:solidFill>
                <a:latin typeface="Liberation Sans"/>
              </a:defRPr>
            </a:pPr>
          </a:p>
          <a:p>
            <a:pPr>
              <a:spcAft>
                <a:spcPts val="500"/>
              </a:spcAft>
              <a:defRPr sz="1100">
                <a:solidFill>
                  <a:srgbClr val="1E293B"/>
                </a:solidFill>
                <a:latin typeface="Liberation Sans"/>
              </a:defRPr>
            </a:pPr>
            <a:r>
              <a:t>• Reduced Pi 5 energy per handshake down to 1.8 mJ.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463040"/>
            <a:ext cx="33832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75320" y="1645920"/>
            <a:ext cx="2926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0B981"/>
                </a:solidFill>
                <a:latin typeface="Liberation Sans"/>
              </a:defRPr>
            </a:pPr>
            <a:r>
              <a:t>3. Formally Verified</a:t>
            </a:r>
          </a:p>
          <a:p>
            <a:pPr>
              <a:spcAft>
                <a:spcPts val="500"/>
              </a:spcAft>
              <a:defRPr sz="1100">
                <a:solidFill>
                  <a:srgbClr val="1E293B"/>
                </a:solidFill>
                <a:latin typeface="Liberation Sans"/>
              </a:defRPr>
            </a:pPr>
            <a:r>
              <a:t>• Built Applied Pi-Calculus model in ProVerif verifier.</a:t>
            </a:r>
          </a:p>
          <a:p>
            <a:pPr>
              <a:spcAft>
                <a:spcPts val="500"/>
              </a:spcAft>
              <a:defRPr sz="1100">
                <a:solidFill>
                  <a:srgbClr val="1E293B"/>
                </a:solidFill>
                <a:latin typeface="Liberation Sans"/>
              </a:defRPr>
            </a:pPr>
          </a:p>
          <a:p>
            <a:pPr>
              <a:spcAft>
                <a:spcPts val="500"/>
              </a:spcAft>
              <a:defRPr sz="1100">
                <a:solidFill>
                  <a:srgbClr val="1E293B"/>
                </a:solidFill>
                <a:latin typeface="Liberation Sans"/>
              </a:defRPr>
            </a:pPr>
            <a:r>
              <a:t>• Mathematically proved 20 formal security properties.</a:t>
            </a:r>
          </a:p>
          <a:p>
            <a:pPr>
              <a:spcAft>
                <a:spcPts val="500"/>
              </a:spcAft>
              <a:defRPr sz="1100">
                <a:solidFill>
                  <a:srgbClr val="1E293B"/>
                </a:solidFill>
                <a:latin typeface="Liberation Sans"/>
              </a:defRPr>
            </a:pPr>
          </a:p>
          <a:p>
            <a:pPr>
              <a:spcAft>
                <a:spcPts val="500"/>
              </a:spcAft>
              <a:defRPr sz="1100">
                <a:solidFill>
                  <a:srgbClr val="1E293B"/>
                </a:solidFill>
                <a:latin typeface="Liberation Sans"/>
              </a:defRPr>
            </a:pPr>
            <a:r>
              <a:t>• Proven Perfect Forward Secrecy (PFS), mutual auth, and replay resistance.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371600" y="1645920"/>
            <a:ext cx="9448495" cy="38404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45920" y="2011680"/>
            <a:ext cx="8899855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Liberation Sans"/>
              </a:defRPr>
            </a:pPr>
            <a:r>
              <a:t>Thank You!</a:t>
            </a:r>
          </a:p>
          <a:p>
            <a:pPr algn="ctr">
              <a:spcBef>
                <a:spcPts val="1400"/>
              </a:spcBef>
              <a:defRPr sz="2000" b="1">
                <a:solidFill>
                  <a:srgbClr val="BAE6FD"/>
                </a:solidFill>
                <a:latin typeface="Liberation Sans"/>
              </a:defRPr>
            </a:pPr>
            <a:r>
              <a:t>Questions &amp; Technical Discussion</a:t>
            </a:r>
          </a:p>
          <a:p>
            <a:pPr algn="ctr">
              <a:spcBef>
                <a:spcPts val="1600"/>
              </a:spcBef>
              <a:defRPr sz="1300">
                <a:solidFill>
                  <a:srgbClr val="FFFFFF"/>
                </a:solidFill>
                <a:latin typeface="Liberation Sans"/>
              </a:defRPr>
            </a:pPr>
            <a:r>
              <a:t>SIMD-Accelerated Post-Quantum Cryptography Framework &amp; Benchmark Suite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6309360"/>
            <a:ext cx="103628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Liberation Sans"/>
              </a:defRPr>
            </a:pPr>
            <a:r>
              <a:t>SIMD-Accelerated Post-Quantum Cryptography Framework  |  Slide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